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71"/>
    <p:restoredTop sz="94631"/>
  </p:normalViewPr>
  <p:slideViewPr>
    <p:cSldViewPr snapToGrid="0" snapToObjects="1">
      <p:cViewPr varScale="1">
        <p:scale>
          <a:sx n="156" d="100"/>
          <a:sy n="156" d="100"/>
        </p:scale>
        <p:origin x="19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09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morning everyone.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I will present our project titled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Sport Activity Recognition using YOLOv11n deployed on the Sony IMX500 AI Camera with Raspberry Pi 5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objective of this project was to develop a complete edge AI system capable of recognizing different sports activities in real time.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project covers the complete pipeline, starting from dataset preparation and model training to deployment on the Sony IMX500 AI camera running with a Raspberry Pi 5.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begin by explaining the motivation behind this project and the problem we wanted to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 sports analysis often depends on manual observation or cloud-based AI systems.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approaches introduce latency and require continuous internet connectivity, making them unsuitable for real-time applications.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solution was to develop an edge AI system where the inference runs directly on the Sony IMX500 camera.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trained a lightweight YOLOv11n model and deployed it onto the camera, enabling real-time sport activity recognition with low latency while preserving user privacy.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architecture, the Raspberry Pi acts as the host device while the Sony IMX500 performs the AI inference directly on the camera.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final dataset consists of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916 annotated images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across four sport activities.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image was annotated using 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LabelImg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YOLO bounding-box format.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dataset was divided into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 training, 10% validation, and 10% testing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images were resized to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640 by 640 pixels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is the standard input size for YOLOv11n.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dataset was then used to train and evaluate our model.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shows how the dataset is distributed among the four sport classes.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Volleyball Spike contains the highest number of images, while Basketball Shoot and Tennis Swing contain the fewest.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dataset verification, we discovered that the annotation files still contained the original class IDs from the previous dataset configuration.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training, we corrected these class IDs so that they matched the final four-class dataset.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correction was essential because incorrect labels initially resulted in poor training performance.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training the model, we first created the dataset from both publicly available videos and our own recorded data.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Basketball Shoot, Tennis Swing, and Volleyball Spike, we extracted image frames from videos in the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UCF101 action recognition dataset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Cricket Batting, we additionally recorded our own batting video and extracted frames to capture more realistic batting poses.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extracting the frames, we organized the images into their respective sport categories.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image was manually annotated using 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LabelImg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generating one YOLO annotation file for every image.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then manually reviewed the dataset and removed duplicate, blurred, and irrelevant images.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Whenever an image was removed, its corresponding annotation file was also deleted to maintain consistency.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we verified that every image had a matching annotation file and corrected the annotation class IDs before training.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the cleaned dataset was organized into training, validation, and testing folders, making it ready for YOLOv11n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preparing the dataset, the next step was building the complete technical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workflow begins with collecting and preparing the dataset.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verifying the labels and correcting the class IDs, we trained the YOLOv11n model using Google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Colab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 Tesla T4 GPU.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training was complete, the model was exported into Sony's IMX format using INT8 quantization.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exported package was converted into an RPK file on the Raspberry Pi.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the RPK model was deployed onto the Sony IMX500 camera, enabling real-time sport activity detection at approximately 25 frames per second.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important hardware constraint is that only the YOLOv11 Nano model fits within the memory limits of the Sony IMX500.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I'll explain why we selected YOLOv11n for this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selected YOLOv11n because it is lightweight and fully compatible with the Sony IMX500 hardware.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model contains approximately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2.58 million parameters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occupies only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5.2 megabytes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after export.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Larger YOLO models exceed the available memory of the IMX500 and therefore cannot be deployed.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YOLO is a single-stage detector that predicts both object locations and class labels in a single forward pass, making it highly suitable for real-time edge AI applications.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selecting the model, we configured the training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 was performed using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 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Colab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with a Tesla T4 GPU.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maximum number of epochs was set to 100.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best-performing model was obtained around epoch 59, and training stopped automatically at epoch 79 because early stopping was enabled with a patience value of 20.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used a batch size of 16 and an input resolution of 640 by 640 pixels.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optimizer configuration provided by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Ultralytics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was used throughout training.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graphs illustrate the learning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during training.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box loss, classification loss, and distribution focal loss decrease steadily, showing that the model learned effectively.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validation performance improved consistently before stabilizing.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both training and validation losses followed similar trends, there is no clear evidence of overfitting.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stopping automatically selected the best-performing model.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I'll present the evaluation results of our trained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model achieved an overall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mAP50 of 95.7%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precision is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96.6%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recall is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90.2%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the F1-score is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93.3%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Cricket Batting and Tennis Swing achieved the highest performance with nearly perfect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values.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Basketball Shoot and Volleyball Spike also achieved strong performance, demonstrating that the detector performs reliably across all four sport activities.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confusion matrix shows how accurately the model classified each sport activity.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Cricket Batting and Tennis Swing achieved perfect recall.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Basketball Shoot has a few missed detections, mainly when the athlete appears small in the image.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Volleyball Spike also has a few missed detections in crowded scenes where players overlap.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Overall, the strong diagonal indicates excellent classification performance.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graph illustrates the relationship between precision and recall across different confidence thresholds.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four sport classes maintain high precision throughout most of the operating range.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highest F1-score occurs at a confidence threshold of approximately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0.53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representing a good balance between precision and recall.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examples show predictions generated on the validation dataset.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model correctly identifies the different sport activities and produces accurate bounding boxes around the athletes.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results demonstrate that the detector generalizes well to unseen images.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now explain how the trained model was deployed onto the Sony IMX500 AI camera.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training, the model was exported into Sony's IMX format.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generated the 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packerOut.zip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package along with the label file.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Raspberry Pi, Sony's packaging tool converted this package into an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RPK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model.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the RPK model was deployed to the Sony IMX500 camera, where inference runs directly on the embedded neural processor.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Raspberry Pi manages the application, while the camera performs the AI inference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 any engineering project, this work has certain limitations and opportunities for future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limitation is the dataset size.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 it is sufficient to demonstrate the concept, a larger dataset would improve the model's robustness.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 limitation is the calibration process used during INT8 quantization.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more sport-specific calibration images would likely improve deployment accuracy.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also encountered software dependency conflicts during model export, which were resolved by using a compatible Google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Colab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environment.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crowded scenes remain challenging because the current implementation focuses on detecting individual players.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several possible directions for future work.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Increasing the dataset size would improve generalization.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calibration images could improve quantized model accuracy.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Pose estimation could further distinguish visually similar sport activities.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Multi-person tracking would enable the system to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analyze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team sports more effectively.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benchmarking latency, FPS, and power consumption would provide a more comprehensive evaluation of the deployed system.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I'll summarize the project and its key outcomes.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project, we developed a complete edge AI solution for sport activity recognition.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prepared a custom dataset, trained a YOLOv11n model, achieved a validation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mAP50 of 95.7%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exported the model to Sony's IMX format, and successfully deployed it on the Sony IMX500 AI camera with Raspberry Pi 5.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project demonstrates that lightweight deep learning models can provide accurate, real-time sport activity recognition directly on embedded hardware without requiring cloud-based processing.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 for your attention.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would be happy to answer any questions regarding the dataset preparation, model training, deployment process, or implementation details.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214553"/>
            <a:ext cx="9144000" cy="9372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0" y="-1371600"/>
            <a:ext cx="4572000" cy="4572000"/>
          </a:xfrm>
          <a:prstGeom prst="line">
            <a:avLst/>
          </a:prstGeom>
          <a:solidFill>
            <a:srgbClr val="0D3258">
              <a:alpha val="70000"/>
            </a:srgbClr>
          </a:solidFill>
          <a:ln w="12700">
            <a:solidFill>
              <a:srgbClr val="0D32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914400" y="3200400"/>
            <a:ext cx="2286000" cy="2286000"/>
          </a:xfrm>
          <a:prstGeom prst="line">
            <a:avLst/>
          </a:prstGeom>
          <a:solidFill>
            <a:srgbClr val="0D3258">
              <a:alpha val="70000"/>
            </a:srgbClr>
          </a:solidFill>
          <a:ln w="12700">
            <a:solidFill>
              <a:srgbClr val="0D32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Activity Recognition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11480" y="1965960"/>
            <a:ext cx="3200400" cy="54864"/>
          </a:xfrm>
          <a:prstGeom prst="rect">
            <a:avLst/>
          </a:prstGeom>
          <a:solidFill>
            <a:srgbClr val="1A9FB5"/>
          </a:solidFill>
          <a:ln w="12700">
            <a:solidFill>
              <a:srgbClr val="1A9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  ·  Sony IMX500 AI Camera  ·  Raspberry Pi 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" y="43159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AISD  ·  Prof. Dr. Thomas Ewender  ·  THD Deggendorf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04509" y="4315968"/>
            <a:ext cx="37822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Tagore Thotakura</a:t>
            </a:r>
          </a:p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Charuphala Balasubramanian</a:t>
            </a:r>
          </a:p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Varsha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Palampalli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78892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133562"/>
          </a:solidFill>
          <a:ln w="12700">
            <a:solidFill>
              <a:srgbClr val="1A9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7889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Sport Classes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278892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133562"/>
          </a:solidFill>
          <a:ln w="12700">
            <a:solidFill>
              <a:srgbClr val="1A9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14600" y="27889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916 Images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278892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133562"/>
          </a:solidFill>
          <a:ln w="12700">
            <a:solidFill>
              <a:srgbClr val="1A9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17720" y="27889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95.7% mAP50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278892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133562"/>
          </a:solidFill>
          <a:ln w="12700">
            <a:solidFill>
              <a:srgbClr val="1A9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20840" y="27889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FPS On-Device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1097280"/>
            <a:ext cx="3200400" cy="3200400"/>
          </a:xfrm>
          <a:prstGeom prst="line">
            <a:avLst/>
          </a:prstGeom>
          <a:solidFill>
            <a:srgbClr val="112B50">
              <a:alpha val="70000"/>
            </a:srgbClr>
          </a:solidFill>
          <a:ln w="12700">
            <a:solidFill>
              <a:srgbClr val="112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73152" cy="1645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Overview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edge AI for sport detection?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320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83210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sport activity detection on a Sony IMX500 AI camera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606040" cy="2414847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606040" cy="1097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</a:rPr>
              <a:t>▪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sport coaching is time-consuming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</a:rPr>
              <a:t>▪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need cloud connectivity for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</a:rPr>
              <a:t>▪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is too high for real-time feedback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68980" y="2571750"/>
            <a:ext cx="2606040" cy="2414847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68980" y="2571750"/>
            <a:ext cx="2606040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06140" y="275463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06140" y="330327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</a:rPr>
              <a:t>▪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compact YOLOv11n detector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06140" y="380619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</a:rPr>
              <a:t>▪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Sony IMX500 edge AI chip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06140" y="430911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</a:rPr>
              <a:t>▪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inference directly in the camera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1143000"/>
            <a:ext cx="2606040" cy="2414847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0760" y="1143000"/>
            <a:ext cx="260604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3258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17920" y="18745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</a:rPr>
              <a:t>▪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— fully private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23774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</a:rPr>
              <a:t>▪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 ms per frame on-chip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880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</a:rPr>
              <a:t>▪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Raspberry Pi 5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1097280"/>
            <a:ext cx="3200400" cy="3200400"/>
          </a:xfrm>
          <a:prstGeom prst="line">
            <a:avLst/>
          </a:prstGeom>
          <a:solidFill>
            <a:srgbClr val="112B50">
              <a:alpha val="70000"/>
            </a:srgbClr>
          </a:solidFill>
          <a:ln w="12700">
            <a:solidFill>
              <a:srgbClr val="112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73152" cy="1645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AISD — Custom annotated dataset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5575" y="178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Sports AISD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 flipV="1">
            <a:off x="411480" y="429768"/>
            <a:ext cx="8247918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6967" y="51892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916 images · YOLO format · 4 sport classes · 80/10/10 split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03529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AF4FA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76681"/>
            <a:ext cx="192024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356741"/>
            <a:ext cx="1920240" cy="4224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96312" y="803529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AF4FA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96312" y="876681"/>
            <a:ext cx="192024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96312" y="1356741"/>
            <a:ext cx="1920240" cy="4224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81144" y="803529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AF4FA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81144" y="876681"/>
            <a:ext cx="192024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81144" y="1356741"/>
            <a:ext cx="1920240" cy="4224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Format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5976" y="803529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AF4FA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65976" y="876681"/>
            <a:ext cx="192024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80/10/10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665976" y="1356741"/>
            <a:ext cx="1920240" cy="4224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52144" y="1936585"/>
            <a:ext cx="2560320" cy="3291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07008" y="1954873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12464" y="1936585"/>
            <a:ext cx="1005840" cy="3291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67328" y="1954873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18304" y="1936585"/>
            <a:ext cx="1280160" cy="3291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73168" y="1954873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98464" y="1936585"/>
            <a:ext cx="1005840" cy="3291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53328" y="1954873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04304" y="1936585"/>
            <a:ext cx="1005840" cy="3291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59168" y="1954873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52144" y="2284057"/>
            <a:ext cx="2560320" cy="329184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152144" y="2302345"/>
            <a:ext cx="54864" cy="274320"/>
          </a:xfrm>
          <a:prstGeom prst="rect">
            <a:avLst/>
          </a:prstGeom>
          <a:solidFill>
            <a:srgbClr val="FF9F40"/>
          </a:solidFill>
          <a:ln w="12700">
            <a:solidFill>
              <a:srgbClr val="FF9F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80160" y="2302345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Basketball Shoot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712464" y="2284057"/>
            <a:ext cx="1005840" cy="329184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67328" y="2302345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18304" y="2284057"/>
            <a:ext cx="1280160" cy="329184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73168" y="2302345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145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98464" y="2284057"/>
            <a:ext cx="1005840" cy="329184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53328" y="2302345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Val: 18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004304" y="2284057"/>
            <a:ext cx="1005840" cy="329184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59168" y="2302345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19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152144" y="2631529"/>
            <a:ext cx="2560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152144" y="2649817"/>
            <a:ext cx="54864" cy="274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280160" y="2649817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Batting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712464" y="2631529"/>
            <a:ext cx="1005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767328" y="2649817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18304" y="2631529"/>
            <a:ext cx="1280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73168" y="2649817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214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998464" y="2631529"/>
            <a:ext cx="1005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053328" y="2649817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Val: 27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004304" y="2631529"/>
            <a:ext cx="1005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059168" y="2649817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27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152144" y="2979001"/>
            <a:ext cx="2560320" cy="329184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52144" y="2997289"/>
            <a:ext cx="54864" cy="274320"/>
          </a:xfrm>
          <a:prstGeom prst="rect">
            <a:avLst/>
          </a:prstGeom>
          <a:solidFill>
            <a:srgbClr val="FF66CC"/>
          </a:solidFill>
          <a:ln w="12700">
            <a:solidFill>
              <a:srgbClr val="FF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280160" y="2997289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Tennis Swing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712464" y="2979001"/>
            <a:ext cx="1005840" cy="329184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767328" y="2997289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718304" y="2979001"/>
            <a:ext cx="1280160" cy="329184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73168" y="2997289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145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998464" y="2979001"/>
            <a:ext cx="1005840" cy="329184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053328" y="2997289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Val: 18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004304" y="2979001"/>
            <a:ext cx="1005840" cy="329184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059168" y="2997289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19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152144" y="3326473"/>
            <a:ext cx="2560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152144" y="3344761"/>
            <a:ext cx="54864" cy="274320"/>
          </a:xfrm>
          <a:prstGeom prst="rect">
            <a:avLst/>
          </a:prstGeom>
          <a:solidFill>
            <a:srgbClr val="36A2EB"/>
          </a:solidFill>
          <a:ln w="12700">
            <a:solidFill>
              <a:srgbClr val="36A2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280160" y="3344761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Volleyball Spike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712464" y="3326473"/>
            <a:ext cx="1005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767328" y="3344761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718304" y="3326473"/>
            <a:ext cx="1280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773168" y="3344761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227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998464" y="3326473"/>
            <a:ext cx="1005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053328" y="3344761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Val: 28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004304" y="3326473"/>
            <a:ext cx="1005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059168" y="3344761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29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152144" y="362794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Annotation: Bounding boxes per player · Input resolution: 640 × 640 px · Collected from publicly available sport images</a:t>
            </a:r>
            <a:endParaRPr lang="en-US" sz="1100" dirty="0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511177DF-8E07-D239-CE50-638E8A075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81" y="3920556"/>
            <a:ext cx="1720774" cy="1161631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9ECEE577-F866-3528-916E-635000073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775" y="3916585"/>
            <a:ext cx="1720775" cy="1151131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A5B19BE9-A70E-47AD-617B-26B3AC8E38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04" y="3929423"/>
            <a:ext cx="1720774" cy="1125456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36E4EF72-7DE7-09AB-1333-0FD8D9509A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610" y="3938844"/>
            <a:ext cx="1720774" cy="1139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Class Distribution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320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breakdown of images per sport class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r="19044"/>
          <a:stretch>
            <a:fillRect/>
          </a:stretch>
        </p:blipFill>
        <p:spPr>
          <a:xfrm>
            <a:off x="411480" y="1005840"/>
            <a:ext cx="4293524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04262" y="982980"/>
            <a:ext cx="28346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141422" y="10561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Class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41422" y="13304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Volleyball Spike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141422" y="16596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 images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04262" y="2171700"/>
            <a:ext cx="28346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141422" y="22448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Classes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41422" y="25191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Basketball &amp; Tennis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141422" y="28483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images each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04262" y="3314700"/>
            <a:ext cx="28346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141422" y="34335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Format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141422" y="37078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TXT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141422" y="40507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x_c y_c w 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" y="4594860"/>
            <a:ext cx="8321040" cy="54864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Fix: Original labels used class IDs 0–5 (6-class scheme). Remapped to IDs 0–3 before training — this fixed mAP from 0% to 95.7%.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Collection, Cleaning &amp; Preparation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320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videos to a training-ready YOLO dataset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EAF4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66344" y="1078992"/>
            <a:ext cx="274320" cy="274320"/>
          </a:xfrm>
          <a:prstGeom prst="lin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6344" y="1078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13816" y="104241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UCF101 Videos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Self-recorded Cricket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408176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499616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" y="1554480"/>
            <a:ext cx="274320" cy="274320"/>
          </a:xfrm>
          <a:prstGeom prst="lin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13816" y="151790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Extraction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1883664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975104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EAF4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" y="2029968"/>
            <a:ext cx="274320" cy="274320"/>
          </a:xfrm>
          <a:prstGeom prst="line">
            <a:avLst/>
          </a:prstGeom>
          <a:solidFill>
            <a:srgbClr val="1A9FB5"/>
          </a:solidFill>
          <a:ln w="12700">
            <a:solidFill>
              <a:srgbClr val="1A9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" y="2029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13816" y="199339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Collection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08760" y="2359152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450592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" y="2505456"/>
            <a:ext cx="274320" cy="27432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" y="2505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3816" y="24688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Annotation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(LabelImg)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08760" y="2834640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292608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EAF4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" y="2980944"/>
            <a:ext cx="274320" cy="274320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" y="29809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13816" y="29443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Label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08760" y="3310128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3401568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" y="3456432"/>
            <a:ext cx="274320" cy="274320"/>
          </a:xfrm>
          <a:prstGeom prst="lin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344" y="3456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13816" y="34198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Cleaning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08760" y="3785616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3877056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EAF4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6344" y="3931920"/>
            <a:ext cx="274320" cy="274320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6344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13816" y="3895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ID Correction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508760" y="4261104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" y="4352544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6344" y="4407408"/>
            <a:ext cx="274320" cy="274320"/>
          </a:xfrm>
          <a:prstGeom prst="lin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6344" y="4407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3816" y="43708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46120" y="1024128"/>
            <a:ext cx="55321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246120" y="1024128"/>
            <a:ext cx="5532120" cy="5486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355848" y="109728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355848" y="1371600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Basketball, Tennis &amp; Volleyball: frame extraction from UCF101 action videos.  Cricket Batting: UCF101 frames + self-recorded batting video.  Diverse player poses across all classes.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46120" y="2048256"/>
            <a:ext cx="55321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246120" y="2048256"/>
            <a:ext cx="553212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355848" y="212140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Extraction &amp; Annotation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355848" y="2395728"/>
            <a:ext cx="5349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</a:rPr>
              <a:t>▪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converted to image frames at multiple timestamps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355848" y="2542032"/>
            <a:ext cx="5349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</a:rPr>
              <a:t>▪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and blurred frames removed manually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355848" y="2688336"/>
            <a:ext cx="5349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</a:rPr>
              <a:t>▪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annotated with LabelImg in YOLO bounding-box format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355848" y="2834640"/>
            <a:ext cx="5349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</a:rPr>
              <a:t>▪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.txt annotation file generated per image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46120" y="3072384"/>
            <a:ext cx="55321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246120" y="3072384"/>
            <a:ext cx="55321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355848" y="314553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Cleaning &amp; Verification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355848" y="3419856"/>
            <a:ext cx="53309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▪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duplicates, blurred and irrelevant images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355848" y="3570732"/>
            <a:ext cx="53309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▪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unused annotation files to maintain pairing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355848" y="3721608"/>
            <a:ext cx="53309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▪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every image had a matching YOLO label file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355848" y="3872484"/>
            <a:ext cx="53309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▪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incorrect class IDs before training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246120" y="4096512"/>
            <a:ext cx="55321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246120" y="4096512"/>
            <a:ext cx="55321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355848" y="41696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Organization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3355848" y="4443984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· 10% Validation · 10% Test  —  Ready for YOLOv11n training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11480" y="4773168"/>
            <a:ext cx="8321040" cy="219456"/>
          </a:xfrm>
          <a:prstGeom prst="roundRect">
            <a:avLst>
              <a:gd name="adj" fmla="val 25000"/>
            </a:avLst>
          </a:prstGeom>
          <a:solidFill>
            <a:srgbClr val="EAF4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48640" y="4791456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dataset preparation improves annotation quality, training consistency, and model reliability.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1097280"/>
            <a:ext cx="3200400" cy="3200400"/>
          </a:xfrm>
          <a:prstGeom prst="line">
            <a:avLst/>
          </a:prstGeom>
          <a:solidFill>
            <a:srgbClr val="112B50">
              <a:alpha val="70000"/>
            </a:srgbClr>
          </a:solidFill>
          <a:ln w="12700">
            <a:solidFill>
              <a:srgbClr val="112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73152" cy="1645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Pipeline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from data to live detection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320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Seven-stage workflow from raw images to on-chip live detection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53312" y="2560320"/>
            <a:ext cx="15544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26464" y="24323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1078992" cy="2194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1078992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85216" y="1554480"/>
            <a:ext cx="457200" cy="457200"/>
          </a:xfrm>
          <a:prstGeom prst="lin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5216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" y="2084832"/>
            <a:ext cx="969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" y="2670048"/>
            <a:ext cx="9692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916 sport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87752" y="2560320"/>
            <a:ext cx="15544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60904" y="24323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508760" y="1463040"/>
            <a:ext cx="1078992" cy="2194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508760" y="1463040"/>
            <a:ext cx="1078992" cy="91440"/>
          </a:xfrm>
          <a:prstGeom prst="rect">
            <a:avLst/>
          </a:prstGeom>
          <a:solidFill>
            <a:srgbClr val="1A9FB5"/>
          </a:solidFill>
          <a:ln w="12700">
            <a:solidFill>
              <a:srgbClr val="1A9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19656" y="1554480"/>
            <a:ext cx="457200" cy="457200"/>
          </a:xfrm>
          <a:prstGeom prst="line">
            <a:avLst/>
          </a:prstGeom>
          <a:solidFill>
            <a:srgbClr val="1A9FB5"/>
          </a:solidFill>
          <a:ln w="12700">
            <a:solidFill>
              <a:srgbClr val="1A9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819656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63624" y="2084832"/>
            <a:ext cx="969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63624" y="2670048"/>
            <a:ext cx="9692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0→3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22192" y="2560320"/>
            <a:ext cx="15544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95344" y="24323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743200" y="1463040"/>
            <a:ext cx="1078992" cy="2194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0" y="1463040"/>
            <a:ext cx="1078992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054096" y="1554480"/>
            <a:ext cx="457200" cy="457200"/>
          </a:xfrm>
          <a:prstGeom prst="lin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054096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98064" y="2084832"/>
            <a:ext cx="969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98064" y="2670048"/>
            <a:ext cx="9692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T4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epochs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56632" y="2560320"/>
            <a:ext cx="15544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29784" y="24323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977640" y="1463040"/>
            <a:ext cx="1078992" cy="2194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977640" y="1463040"/>
            <a:ext cx="107899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288536" y="1554480"/>
            <a:ext cx="457200" cy="45720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288536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032504" y="2084832"/>
            <a:ext cx="969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IMX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032504" y="2670048"/>
            <a:ext cx="9692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.zip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91072" y="2560320"/>
            <a:ext cx="15544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64224" y="24323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12080" y="1463040"/>
            <a:ext cx="1078992" cy="2194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212080" y="1463040"/>
            <a:ext cx="1078992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522976" y="1554480"/>
            <a:ext cx="457200" cy="457200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522976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66944" y="2084832"/>
            <a:ext cx="969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66944" y="2670048"/>
            <a:ext cx="9692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imx500-pkg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.rpk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25512" y="2560320"/>
            <a:ext cx="15544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598664" y="24323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46520" y="1463040"/>
            <a:ext cx="1078992" cy="2194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446520" y="1463040"/>
            <a:ext cx="1078992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757416" y="1554480"/>
            <a:ext cx="457200" cy="457200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757416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501384" y="2084832"/>
            <a:ext cx="969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Pi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01384" y="2670048"/>
            <a:ext cx="9692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5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680960" y="1463040"/>
            <a:ext cx="1078992" cy="2194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680960" y="1463040"/>
            <a:ext cx="1078992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991856" y="1554480"/>
            <a:ext cx="457200" cy="457200"/>
          </a:xfrm>
          <a:prstGeom prst="lin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991856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735824" y="2084832"/>
            <a:ext cx="969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735824" y="2670048"/>
            <a:ext cx="9692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11480" y="39776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IMX Export run in Google Colab (T4 GPU)  ·  RPK conversion &amp; live demo run on Raspberry Pi 5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11480" y="4315968"/>
            <a:ext cx="8321040" cy="548640"/>
          </a:xfrm>
          <a:prstGeom prst="roundRect">
            <a:avLst>
              <a:gd name="adj" fmla="val 13333"/>
            </a:avLst>
          </a:prstGeom>
          <a:solidFill>
            <a:srgbClr val="EAF4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48640" y="437083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constraint: Only YOLOv11n (nano) fits within the Sony IMX500 chip's on-board memory. Larger variants are rejected at RPK conversion.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1097280"/>
            <a:ext cx="3200400" cy="3200400"/>
          </a:xfrm>
          <a:prstGeom prst="line">
            <a:avLst/>
          </a:prstGeom>
          <a:solidFill>
            <a:srgbClr val="112B50">
              <a:alpha val="70000"/>
            </a:srgbClr>
          </a:solidFill>
          <a:ln w="12700">
            <a:solidFill>
              <a:srgbClr val="112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73152" cy="1645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 — chosen for IMX500 compatibility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 — Model Specifications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320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variant is the only YOLO size supported by the Sony IMX500 chip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Specifications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3931920" cy="34747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16184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31720" y="16184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 (nano)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956816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" y="20025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20025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(fused)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340864"/>
            <a:ext cx="3931920" cy="34747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" y="23865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23865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2.58 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724912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" y="27706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31720" y="27706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108960"/>
            <a:ext cx="3931920" cy="34747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1208" y="31546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31720" y="3154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× 640 px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493008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1208" y="35387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31720" y="3538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3877056"/>
            <a:ext cx="3931920" cy="34747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1208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31720" y="392277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MB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4261104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1208" y="4306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31720" y="43068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sport actions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17720" y="105156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YOLOv11n?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754880" y="1572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</a:rPr>
              <a:t>▪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IMX500 chip memory only fits nano variant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54880" y="1892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</a:rPr>
              <a:t>▪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models fail at RPK conversion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54880" y="228807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</a:rPr>
              <a:t>▪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2.58 M params — ideal for edge deployment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754880" y="26010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</a:rPr>
              <a:t>▪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Single-pass detector — no region proposals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617720" y="3025833"/>
            <a:ext cx="41605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3108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YOLO Works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754880" y="3529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</a:rPr>
              <a:t>▪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image into grid cells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54880" y="38770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</a:rPr>
              <a:t>▪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predicts box + class in one pass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754880" y="4224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</a:rPr>
              <a:t>▪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two-stage region proposal needed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754880" y="4572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</a:rPr>
              <a:t>▪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filters overlapping detections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1097280"/>
            <a:ext cx="3200400" cy="3200400"/>
          </a:xfrm>
          <a:prstGeom prst="line">
            <a:avLst/>
          </a:prstGeom>
          <a:solidFill>
            <a:srgbClr val="112B50">
              <a:alpha val="70000"/>
            </a:srgbClr>
          </a:solidFill>
          <a:ln w="12700">
            <a:solidFill>
              <a:srgbClr val="112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73152" cy="1645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T4 GPU · 100 epochs · Early stopping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320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 trained on Google Colab with T4 GPU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651760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33272" y="12344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33272" y="15270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3272" y="191109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GPU · Python 3.12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1430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27832" y="1143000"/>
            <a:ext cx="2651760" cy="822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27832" y="123444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49624" y="12344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9624" y="15270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max / 79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9624" y="191109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 at epoch 59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44184" y="11430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44184" y="1143000"/>
            <a:ext cx="2651760" cy="8229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44184" y="123444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65976" y="12344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65976" y="15270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65976" y="191109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640×640 px input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278892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2788920"/>
            <a:ext cx="265176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288036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33272" y="28803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33272" y="31729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epochs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33272" y="355701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at epoch 59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27832" y="278892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27832" y="2788920"/>
            <a:ext cx="2651760" cy="822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27832" y="288036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849624" y="28803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9624" y="31729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(SGD)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849624" y="355701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lr0=0.01  momentum=0.937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44184" y="278892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044184" y="2788920"/>
            <a:ext cx="2651760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44184" y="288036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665976" y="28803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65976" y="31729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× 640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65976" y="355701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YOLO input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320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decreasing steadily · mAP50 converging to 97% · No overfitting observed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r="7973"/>
          <a:stretch>
            <a:fillRect/>
          </a:stretch>
        </p:blipFill>
        <p:spPr>
          <a:xfrm>
            <a:off x="411480" y="1051560"/>
            <a:ext cx="5133109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051560"/>
            <a:ext cx="27889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989320" y="1051560"/>
            <a:ext cx="278892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26480" y="116128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Trend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26480" y="149047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losses (box, cls, dfl)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decreasing smoothly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89320" y="2240280"/>
            <a:ext cx="27889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89320" y="2240280"/>
            <a:ext cx="278892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26480" y="235000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267919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59 — highest mAP50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 at epoch 79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89320" y="3429000"/>
            <a:ext cx="27889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989320" y="3429000"/>
            <a:ext cx="2788920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26480" y="353872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Overfitting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26480" y="386791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val losses track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closely throughout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1097280"/>
            <a:ext cx="3200400" cy="3200400"/>
          </a:xfrm>
          <a:prstGeom prst="line">
            <a:avLst/>
          </a:prstGeom>
          <a:solidFill>
            <a:srgbClr val="112B50">
              <a:alpha val="70000"/>
            </a:srgbClr>
          </a:solidFill>
          <a:ln w="12700">
            <a:solidFill>
              <a:srgbClr val="112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73152" cy="1645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confusion matrix, and per-class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Overall Metrics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320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 · Validation set · confidence threshold 0.25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993392" cy="1417320"/>
          </a:xfrm>
          <a:prstGeom prst="roundRect">
            <a:avLst>
              <a:gd name="adj" fmla="val 6452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24712"/>
            <a:ext cx="1993392" cy="737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831086"/>
            <a:ext cx="1993392" cy="5952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96312" y="1051560"/>
            <a:ext cx="1993392" cy="1417320"/>
          </a:xfrm>
          <a:prstGeom prst="roundRect">
            <a:avLst>
              <a:gd name="adj" fmla="val 6452"/>
            </a:avLst>
          </a:prstGeom>
          <a:solidFill>
            <a:srgbClr val="F0FDF4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96312" y="1124712"/>
            <a:ext cx="1993392" cy="737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96312" y="1831086"/>
            <a:ext cx="1993392" cy="5952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81144" y="1051560"/>
            <a:ext cx="1993392" cy="1417320"/>
          </a:xfrm>
          <a:prstGeom prst="roundRect">
            <a:avLst>
              <a:gd name="adj" fmla="val 6452"/>
            </a:avLst>
          </a:prstGeom>
          <a:solidFill>
            <a:srgbClr val="FFFBEB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81144" y="1124712"/>
            <a:ext cx="1993392" cy="737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90.2%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81144" y="1831086"/>
            <a:ext cx="1993392" cy="5952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5976" y="1051560"/>
            <a:ext cx="1993392" cy="1417320"/>
          </a:xfrm>
          <a:prstGeom prst="roundRect">
            <a:avLst>
              <a:gd name="adj" fmla="val 6452"/>
            </a:avLst>
          </a:prstGeom>
          <a:solidFill>
            <a:srgbClr val="F5F3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65976" y="1124712"/>
            <a:ext cx="1993392" cy="737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665976" y="1831086"/>
            <a:ext cx="1993392" cy="5952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517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Breakdown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11480" y="3063240"/>
            <a:ext cx="30175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" y="30815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Class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29000" y="3063240"/>
            <a:ext cx="146304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02152" y="30815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3063240"/>
            <a:ext cx="146304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65192" y="30815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3063240"/>
            <a:ext cx="146304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28232" y="30815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18120" y="3063240"/>
            <a:ext cx="123444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91272" y="308152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3429000"/>
            <a:ext cx="30175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" y="34655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Basketball Shoot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29000" y="3429000"/>
            <a:ext cx="146304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02152" y="34655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92040" y="3429000"/>
            <a:ext cx="146304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65192" y="34655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75.3%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5080" y="3429000"/>
            <a:ext cx="146304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28232" y="34655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818120" y="3429000"/>
            <a:ext cx="123444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891272" y="3465576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Good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1480" y="3776472"/>
            <a:ext cx="30175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4632" y="38130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Batting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429000" y="3776472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502152" y="3813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92040" y="3776472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65192" y="3813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55080" y="3776472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28232" y="3813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818120" y="3776472"/>
            <a:ext cx="1234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891272" y="38130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Excellent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11480" y="4123944"/>
            <a:ext cx="30175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4632" y="41605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Tennis Swing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429000" y="4123944"/>
            <a:ext cx="146304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502152" y="4160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92040" y="4123944"/>
            <a:ext cx="146304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965192" y="4160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355080" y="4123944"/>
            <a:ext cx="146304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428232" y="4160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818120" y="4123944"/>
            <a:ext cx="123444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891272" y="416052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Excellent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11480" y="4471416"/>
            <a:ext cx="30175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4632" y="45079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Volleyball Spike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429000" y="4471416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502152" y="45079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90.4%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892040" y="4471416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965192" y="45079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85.7%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355080" y="4471416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428232" y="45079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818120" y="4471416"/>
            <a:ext cx="1234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891272" y="450799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Good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320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diagonal — cricket batting and tennis swing at 100% recall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14400"/>
            <a:ext cx="512064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914400"/>
            <a:ext cx="2788920" cy="960120"/>
          </a:xfrm>
          <a:prstGeom prst="roundRect">
            <a:avLst>
              <a:gd name="adj" fmla="val 9524"/>
            </a:avLst>
          </a:prstGeom>
          <a:solidFill>
            <a:srgbClr val="EAF4FA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89320" y="987552"/>
            <a:ext cx="2788920" cy="499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989320" y="1332510"/>
            <a:ext cx="2788920" cy="403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Batting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89320" y="159105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recall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89320" y="1965960"/>
            <a:ext cx="2788920" cy="960120"/>
          </a:xfrm>
          <a:prstGeom prst="roundRect">
            <a:avLst>
              <a:gd name="adj" fmla="val 9524"/>
            </a:avLst>
          </a:prstGeom>
          <a:solidFill>
            <a:srgbClr val="EAF4FA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89320" y="2039112"/>
            <a:ext cx="2788920" cy="499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989320" y="2380142"/>
            <a:ext cx="2788920" cy="403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Tennis Swing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89320" y="264261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recall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89320" y="3017520"/>
            <a:ext cx="2788920" cy="960120"/>
          </a:xfrm>
          <a:prstGeom prst="roundRect">
            <a:avLst>
              <a:gd name="adj" fmla="val 9524"/>
            </a:avLst>
          </a:prstGeom>
          <a:solidFill>
            <a:srgbClr val="EAF4FA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89320" y="3090672"/>
            <a:ext cx="2788920" cy="499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989320" y="3421228"/>
            <a:ext cx="2788920" cy="403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Basketball Shoot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89320" y="369417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as background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89320" y="4069080"/>
            <a:ext cx="2788920" cy="960120"/>
          </a:xfrm>
          <a:prstGeom prst="roundRect">
            <a:avLst>
              <a:gd name="adj" fmla="val 9524"/>
            </a:avLst>
          </a:prstGeom>
          <a:solidFill>
            <a:srgbClr val="EAF4FA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89320" y="4142232"/>
            <a:ext cx="2788920" cy="499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5989320" y="4470502"/>
            <a:ext cx="2788920" cy="403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Volleyball Spike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89320" y="474573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missed in crowd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Precision–Recall &amp; F1 Curves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320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classes maintain high precision · F1 peaks at 0.93 @ conf 0.528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122218"/>
            <a:ext cx="8321040" cy="372410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Predictions — Validation 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320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correctly identifies sport poses with tight bounding boxes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050729"/>
            <a:ext cx="8321040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1097280"/>
            <a:ext cx="3200400" cy="3200400"/>
          </a:xfrm>
          <a:prstGeom prst="line">
            <a:avLst/>
          </a:prstGeom>
          <a:solidFill>
            <a:srgbClr val="112B50">
              <a:alpha val="70000"/>
            </a:srgbClr>
          </a:solidFill>
          <a:ln w="12700">
            <a:solidFill>
              <a:srgbClr val="112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73152" cy="1645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packerOut.zip to live IMX500 detection on Raspberry Pi 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Pipeline — Raspberry Pi 5 + IMX500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320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on-device after training completes in Colab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2697480" cy="822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08760" y="1188720"/>
            <a:ext cx="502920" cy="502920"/>
          </a:xfrm>
          <a:prstGeom prst="lin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0876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1828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IMX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231136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" y="2286000"/>
            <a:ext cx="23042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model.export(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format='imx',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int8=True)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2423160" cy="603504"/>
          </a:xfrm>
          <a:prstGeom prst="roundRect">
            <a:avLst>
              <a:gd name="adj" fmla="val 12121"/>
            </a:avLst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" y="3474720"/>
            <a:ext cx="23042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packerOut.zip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labels.txt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26517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46120" y="109728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46120" y="1097280"/>
            <a:ext cx="2697480" cy="8229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43400" y="1188720"/>
            <a:ext cx="502920" cy="502920"/>
          </a:xfrm>
          <a:prstGeom prst="lin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434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55848" y="1828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RPK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383280" y="2231136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47288" y="2286000"/>
            <a:ext cx="23042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imx500-package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-i packerOut.zip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-o rpk_output/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3438144"/>
            <a:ext cx="2423160" cy="603504"/>
          </a:xfrm>
          <a:prstGeom prst="roundRect">
            <a:avLst>
              <a:gd name="adj" fmla="val 12121"/>
            </a:avLst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47288" y="3474720"/>
            <a:ext cx="23042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network.rpk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26517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80760" y="109728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80760" y="1097280"/>
            <a:ext cx="2697480" cy="822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178040" y="1188720"/>
            <a:ext cx="502920" cy="502920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7804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90488" y="1828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Live Demo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217920" y="2231136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81928" y="2286000"/>
            <a:ext cx="23042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sport_detect.py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--model network.rpk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--labels labels.txt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--fps 25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3438144"/>
            <a:ext cx="2423160" cy="603504"/>
          </a:xfrm>
          <a:prstGeom prst="roundRect">
            <a:avLst>
              <a:gd name="adj" fmla="val 12121"/>
            </a:avLst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81928" y="3474720"/>
            <a:ext cx="23042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Live detection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25 FPS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Colab: model.export() ·  Raspberry Pi: imx500-package + picamera2 demo script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1097280"/>
            <a:ext cx="3200400" cy="3200400"/>
          </a:xfrm>
          <a:prstGeom prst="line">
            <a:avLst/>
          </a:prstGeom>
          <a:solidFill>
            <a:srgbClr val="112B50">
              <a:alpha val="70000"/>
            </a:srgbClr>
          </a:solidFill>
          <a:ln w="12700">
            <a:solidFill>
              <a:srgbClr val="112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73152" cy="1645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&amp; Future Work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 and paths to improvement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320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 during the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40690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1208" y="1234440"/>
            <a:ext cx="411480" cy="411480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207008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572768"/>
            <a:ext cx="33649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916 images is sufficient for proof of concept. Production systems typically need 5000+ images per class.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690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73168" y="1234440"/>
            <a:ext cx="411480" cy="411480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73168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1207008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Calibration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57800" y="1572768"/>
            <a:ext cx="33649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calibration used only 4 generic COCO images. Sony recommends 300+ domain-specific images for best quantization accuracy.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288036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2880360"/>
            <a:ext cx="40690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1208" y="3017520"/>
            <a:ext cx="411480" cy="411480"/>
          </a:xfrm>
          <a:prstGeom prst="lin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1208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2990088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IMX Export Dependencies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355848"/>
            <a:ext cx="33649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protobuf, numpy, and edge-mdt-cl version conflicts on Python 3.12 required careful pinning. Resolved by running export in Colab.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288036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2880360"/>
            <a:ext cx="40690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73168" y="3017520"/>
            <a:ext cx="411480" cy="41148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73168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2990088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Single-Person Detection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3355848"/>
            <a:ext cx="33649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places one box per active player. Crowded scenes with multiple players visible simultaneously reduce accuracy.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Improvements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320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to a stronger, more capable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269748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33272" y="11887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Calibration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1755648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300+ sport-specific images during INT8 export calibration to close the quantization accuracy gap.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97480" cy="640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67912" y="11887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755648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500+ images per class with diverse angles, lighting conditions, and backgrounds.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0972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1097280"/>
            <a:ext cx="2697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02552" y="11887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Keypoints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0488" y="1755648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skeleton keypoint estimation to better disambiguate visually similar sport poses.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278892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2788920"/>
            <a:ext cx="26974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33272" y="28803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Multi-Person Tracking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" y="3447288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ByteTrack or SORT to handle team scenarios with multiple players simultaneously.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46120" y="278892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46120" y="2788920"/>
            <a:ext cx="26974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3756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867912" y="28803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Benchmarking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55848" y="3447288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measure on-device latency, FPS, and power consumption using IMX500 performance counters.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1097280"/>
            <a:ext cx="3200400" cy="3200400"/>
          </a:xfrm>
          <a:prstGeom prst="line">
            <a:avLst/>
          </a:prstGeom>
          <a:solidFill>
            <a:srgbClr val="112B50">
              <a:alpha val="70000"/>
            </a:srgbClr>
          </a:solidFill>
          <a:ln w="12700">
            <a:solidFill>
              <a:srgbClr val="112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73152" cy="1645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and key achievements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320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sport activity recognition on IMX500 edge AI camera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2697480" cy="822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1208" y="1216152"/>
            <a:ext cx="475488" cy="475488"/>
          </a:xfrm>
          <a:prstGeom prst="lin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12161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97480" y="1216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" y="176479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201168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916 images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208" y="231343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 · YOLO format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46120" y="1051560"/>
            <a:ext cx="2697480" cy="8229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55848" y="1216152"/>
            <a:ext cx="475488" cy="475488"/>
          </a:xfrm>
          <a:prstGeom prst="lin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55848" y="12161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32120" y="1216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55848" y="176479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201168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55848" y="231343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2.58M params · 5.2MB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105156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80760" y="1051560"/>
            <a:ext cx="2697480" cy="822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90488" y="1216152"/>
            <a:ext cx="475488" cy="475488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90488" y="12161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66760" y="1216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90488" y="176479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0488" y="201168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95.7% mAP50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90488" y="231343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epochs · T4 GPU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274320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1480" y="2743200"/>
            <a:ext cx="269748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21208" y="2907792"/>
            <a:ext cx="475488" cy="475488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21208" y="29077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697480" y="2907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" y="345643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" y="370332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93.3%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21208" y="400507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96.6%  R: 90.2%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46120" y="274320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246120" y="2743200"/>
            <a:ext cx="2697480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355848" y="2907792"/>
            <a:ext cx="475488" cy="475488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55848" y="29077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532120" y="2907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355848" y="345643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IMX Export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55848" y="370332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3355848" y="400507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packerOut.zip → RPK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080760" y="274320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080760" y="2743200"/>
            <a:ext cx="2697480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190488" y="2907792"/>
            <a:ext cx="475488" cy="475488"/>
          </a:xfrm>
          <a:prstGeom prst="lin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190488" y="29077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366760" y="2907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190488" y="345643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Detection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190488" y="370332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FPS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190488" y="400507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· Raspberry Pi 5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11480" y="4572000"/>
            <a:ext cx="8321040" cy="384048"/>
          </a:xfrm>
          <a:prstGeom prst="roundRect">
            <a:avLst>
              <a:gd name="adj" fmla="val 19048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48640" y="461772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 on Sony IMX500 achieves 95.7% mAP50 at 25 FPS — proving that compact, on-chip sport activity recognition is viable for real-time edge AI applications.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0" y="-1371600"/>
            <a:ext cx="4572000" cy="4572000"/>
          </a:xfrm>
          <a:prstGeom prst="line">
            <a:avLst/>
          </a:prstGeom>
          <a:solidFill>
            <a:srgbClr val="0D3258">
              <a:alpha val="70000"/>
            </a:srgbClr>
          </a:solidFill>
          <a:ln w="12700">
            <a:solidFill>
              <a:srgbClr val="0D32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00400" y="2103120"/>
            <a:ext cx="2743200" cy="54864"/>
          </a:xfrm>
          <a:prstGeom prst="rect">
            <a:avLst/>
          </a:prstGeom>
          <a:solidFill>
            <a:srgbClr val="1A9FB5"/>
          </a:solidFill>
          <a:ln w="12700">
            <a:solidFill>
              <a:srgbClr val="1A9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mAP50: 95.7%  ·  Precision: 96.6%  ·  Recall: 90.2%  ·  F1: 93.3%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  ·  Sony IMX500  ·  Raspberry Pi 5  ·  25 FPS On-Device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-116059" y="445312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AISD  ·  Prof. Dr. Thomas Ewender  ·  THD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Deggendorf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Tagore Thotakura ·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Charuphala Balasubramanian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Varsha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Palampalii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3105</Words>
  <Application>Microsoft Macintosh PowerPoint</Application>
  <PresentationFormat>On-screen Show (16:9)</PresentationFormat>
  <Paragraphs>532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 Activity Recognition</dc:title>
  <dc:subject>PptxGenJS Presentation</dc:subject>
  <dc:creator>PptxGenJS</dc:creator>
  <cp:lastModifiedBy>Charuphala Balasubramanian</cp:lastModifiedBy>
  <cp:revision>5</cp:revision>
  <dcterms:created xsi:type="dcterms:W3CDTF">2026-07-02T08:10:35Z</dcterms:created>
  <dcterms:modified xsi:type="dcterms:W3CDTF">2026-07-02T12:00:22Z</dcterms:modified>
</cp:coreProperties>
</file>